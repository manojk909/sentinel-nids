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Protocol A — pooled random split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Macro-F1</c:v>
                  </c:pt>
                  <c:pt idx="2">
                    <c:v>Balanced acc.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0.9951</c:v>
                </c:pt>
                <c:pt idx="1">
                  <c:v>0.9548</c:v>
                </c:pt>
                <c:pt idx="2">
                  <c:v>0.9373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Protocol B — official split (honest)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Macro-F1</c:v>
                  </c:pt>
                  <c:pt idx="2">
                    <c:v>Balanced acc.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0.7528</c:v>
                </c:pt>
                <c:pt idx="1">
                  <c:v>0.4869</c:v>
                </c:pt>
                <c:pt idx="2">
                  <c:v>0.4835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50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b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Protocol A (pooled random split)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DoS</c:v>
                  </c:pt>
                  <c:pt idx="2">
                    <c:v>Probe</c:v>
                  </c:pt>
                  <c:pt idx="3">
                    <c:v>R2L</c:v>
                  </c:pt>
                  <c:pt idx="4">
                    <c:v>U2R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0.9966</c:v>
                </c:pt>
                <c:pt idx="1">
                  <c:v>0.9993</c:v>
                </c:pt>
                <c:pt idx="2">
                  <c:v>0.9961</c:v>
                </c:pt>
                <c:pt idx="3">
                  <c:v>0.9147</c:v>
                </c:pt>
                <c:pt idx="4">
                  <c:v>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Protocol B (honest)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DoS</c:v>
                  </c:pt>
                  <c:pt idx="2">
                    <c:v>Probe</c:v>
                  </c:pt>
                  <c:pt idx="3">
                    <c:v>R2L</c:v>
                  </c:pt>
                  <c:pt idx="4">
                    <c:v>U2R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0.9738</c:v>
                </c:pt>
                <c:pt idx="1">
                  <c:v>0.7975</c:v>
                </c:pt>
                <c:pt idx="2">
                  <c:v>0.6026</c:v>
                </c:pt>
                <c:pt idx="3">
                  <c:v>0.0385</c:v>
                </c:pt>
                <c:pt idx="4">
                  <c:v>0.005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50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KDDTrain+ share of split (%)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DoS</c:v>
                  </c:pt>
                  <c:pt idx="2">
                    <c:v>Probe</c:v>
                  </c:pt>
                  <c:pt idx="3">
                    <c:v>R2L</c:v>
                  </c:pt>
                  <c:pt idx="4">
                    <c:v>U2R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53.46</c:v>
                </c:pt>
                <c:pt idx="1">
                  <c:v>36.46</c:v>
                </c:pt>
                <c:pt idx="2">
                  <c:v>9.25</c:v>
                </c:pt>
                <c:pt idx="3">
                  <c:v>0.79</c:v>
                </c:pt>
                <c:pt idx="4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KDDTest+ share of split (%)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DoS</c:v>
                  </c:pt>
                  <c:pt idx="2">
                    <c:v>Probe</c:v>
                  </c:pt>
                  <c:pt idx="3">
                    <c:v>R2L</c:v>
                  </c:pt>
                  <c:pt idx="4">
                    <c:v>U2R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43.08</c:v>
                </c:pt>
                <c:pt idx="1">
                  <c:v>33.08</c:v>
                </c:pt>
                <c:pt idx="2">
                  <c:v>10.74</c:v>
                </c:pt>
                <c:pt idx="3">
                  <c:v>12.22</c:v>
                </c:pt>
                <c:pt idx="4">
                  <c:v>0.89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50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Family present in training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DoS</c:v>
                  </c:pt>
                  <c:pt idx="1">
                    <c:v>Probe</c:v>
                  </c:pt>
                  <c:pt idx="2">
                    <c:v>R2L</c:v>
                  </c:pt>
                  <c:pt idx="3">
                    <c:v>U2R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0.788</c:v>
                </c:pt>
                <c:pt idx="1">
                  <c:v>0.7485</c:v>
                </c:pt>
                <c:pt idx="2">
                  <c:v>0.0534</c:v>
                </c:pt>
                <c:pt idx="3">
                  <c:v>0.11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Family deleted from training (simulated zero-day)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DoS</c:v>
                  </c:pt>
                  <c:pt idx="1">
                    <c:v>Probe</c:v>
                  </c:pt>
                  <c:pt idx="2">
                    <c:v>R2L</c:v>
                  </c:pt>
                  <c:pt idx="3">
                    <c:v>U2R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0.5417</c:v>
                </c:pt>
                <c:pt idx="1">
                  <c:v>0.3689</c:v>
                </c:pt>
                <c:pt idx="2">
                  <c:v>0.0007</c:v>
                </c:pt>
                <c:pt idx="3">
                  <c:v>0.02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50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latency per flow (ms, log-ish scale shown as value labels)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Random forest</c:v>
                  </c:pt>
                  <c:pt idx="1">
                    <c:v>LightGBM</c:v>
                  </c:pt>
                  <c:pt idx="2">
                    <c:v>XGBoost</c:v>
                  </c:pt>
                  <c:pt idx="3">
                    <c:v>MLP (128,64)</c:v>
                  </c:pt>
                  <c:pt idx="4">
                    <c:v>Logistic regression</c:v>
                  </c:pt>
                  <c:pt idx="5">
                    <c:v>Decision tree</c:v>
                  </c:pt>
                  <c:pt idx="6">
                    <c:v>ONNX (logreg)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65.2055</c:v>
                </c:pt>
                <c:pt idx="1">
                  <c:v>1.0455</c:v>
                </c:pt>
                <c:pt idx="2">
                  <c:v>0.9683</c:v>
                </c:pt>
                <c:pt idx="3">
                  <c:v>0.3624</c:v>
                </c:pt>
                <c:pt idx="4">
                  <c:v>0.215</c:v>
                </c:pt>
                <c:pt idx="5">
                  <c:v>0.0794</c:v>
                </c:pt>
                <c:pt idx="6">
                  <c:v>0.0129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250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79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state the claim in the first 20 seconds. One model, one pipeline, one seed; only the split differs; 99.51% becomes 75.28%.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ML as necessary but the evaluation as broken. Do not oversell ML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hypothesis out loud. Emphasise that it could have come out the other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a modern dataset, lead with the merit argument, not the availability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controlled-experiment framing is what makes this more than a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Gap: 24.23 accuracy points, 46.79 macro-F1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families signify actual compromise rather than disruption. Accuracy cannot see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LightGBM's negative shift penalty is an artefact of collapse on rare classes inside small CV folds — reported as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 B alone beats Channel A on unseen attacks at a third of the false-alarm rate. That is the most informative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τ is a staffing decision, not a hyperparameter. Report the curve, don't pick for the operator.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2 is a Model Explanation round — this slide is the one to expand if they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 to volunteer: this measures inference on pre-computed features. Feature extraction from a live packet stream is the harder problem and is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00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SENTINEL-NIDS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66928" y="25420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intrusion detection for critical infrastructure — evaluated honestly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3401568"/>
            <a:ext cx="81381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566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intrusion detectors report 97–99% accuracy.
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changed only the train/test split. Accuracy fell to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75.28%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4800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Kharkar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solo submission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138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Bubble 2026  ·  Army Institute of Technology, Pune  ·  Track: TE-BE (Design &amp; Solve — Advanced)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546811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Idea Submission  ·  08 August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networks are defended by systems that cannot see a new attack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networks, power grids and military logistics are still largely protected by signature-based intrusion detection — traffic is flagged only if it matches a known pattern.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structurally blind to any attack never seen before. Machine learning is the obvious replacement.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is not pattern matching. It is a distribution-shift problem: the adversary actively invents traffic the model has never seen.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rarest attack classes are the most dangerous ones, and a missed intrusion costs incomparably more than a wasted analyst minute.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 that decides whether an ML-IDS number is meaningful is not which model was used. It is how the data was split.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78040" y="1481328"/>
            <a:ext cx="4446727" cy="3703320"/>
          </a:xfrm>
          <a:prstGeom prst="roundRect">
            <a:avLst>
              <a:gd name="adj" fmla="val 246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34072" y="1737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published numbers can't be trusted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34072" y="23774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supervised learning assumes the test data is drawn from the training distribution.
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intrusion detection that assumption is false by definition — the attacker's job is to violate it.
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way a benchmark is split is not a technical detail. It decides whether the reported number means anything at all.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high accuracies reported for ML-based intrusion detection are an artefact of evaluating on a random split of a single dataset.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33832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realistic protocol — where the test set contains attack types absent from training — performance collapses, and the collapse is concentrated precisely in the rarest and most severe attack categories.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80060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800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falsifiable claim, and the experiment that tests it is one command.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NSL-KDD — chosen because it ships a built-in zero-day benchmark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27071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85216" y="1545336"/>
            <a:ext cx="2590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125,973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276856"/>
            <a:ext cx="2407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flows (KDDTrain+)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6879" y="1417320"/>
            <a:ext cx="2627071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95167" y="1545336"/>
            <a:ext cx="2590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22,544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86607" y="2276856"/>
            <a:ext cx="2407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flows (KDDTest+)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6830" y="1417320"/>
            <a:ext cx="2627071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05118" y="1545336"/>
            <a:ext cx="2590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96558" y="2276856"/>
            <a:ext cx="2407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that appear ONLY in the test 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6782" y="1417320"/>
            <a:ext cx="2627071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15070" y="1545336"/>
            <a:ext cx="25904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06510" y="2276856"/>
            <a:ext cx="24076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flows are an attack type never trained 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0358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properties — both destroyed by pooling the splits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3401568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of the 37 attack types occur only in KDDTest+ — 3,750 flows. The model must generalise to attacks it has never observed.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priors move: R2L is 0.79% of training data but 12.2% of test data (15.5×); U2R moves 0.04% → 0.89% (21.5×).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rows in training — so this is NOT classical row leakage. It is distribution shift, which is a more interesting failure.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0358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newer dataset?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340156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UNSW-NB15, CIC-IDS2017 and HuggingFace NIDS corpora were all attempted and are unreachable from the build environment (verified 403).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NSL-KDD is also the right choice on merit: it is the only common benchmark with a documented unseen-attack test protocol — which is what makes the experiment possible.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age (1999 traffic) is a genuine limitation, stated in the model card rather than hidden.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model. One pipeline. One seed. Only the split changes.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2774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3736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1719072"/>
            <a:ext cx="418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89888" y="1938528"/>
            <a:ext cx="418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error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2395728"/>
            <a:ext cx="46556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KDDTrain+ and KDDTest+ (148,517 rows), shuffle, stratified 80/20 split.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large share of tutorials, blog posts and student projects 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3712464"/>
            <a:ext cx="4655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this comparison. Never to report our performance.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7308" y="1463040"/>
            <a:ext cx="52774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39916" y="173736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991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0268" y="1719072"/>
            <a:ext cx="418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70268" y="1938528"/>
            <a:ext cx="418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8204" y="2395728"/>
            <a:ext cx="46556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KDDTrain+ (125,973). Test on KDDTest+ (22,544) — as the dataset authors designed it.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keeps its 17 unseen attack types and its shifted class priors.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58204" y="3712464"/>
            <a:ext cx="46556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performance number we claim comes from here.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709160"/>
            <a:ext cx="11057839" cy="859536"/>
          </a:xfrm>
          <a:prstGeom prst="roundRect">
            <a:avLst>
              <a:gd name="adj" fmla="val 1063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80974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constant across both protocols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" y="5065776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RandomForestClassifier(n_estimators=300)  ·  122 one-hot features  ·  identical preprocessing  ·  random_state=42  ·  no tuning on either split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falls 24 points. Macro-F1 falls 47. The error rate is 50× higher.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" y="137160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07808" y="1545336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99248" y="2276856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reported under Protocol 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646920" y="14173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65208" y="1545336"/>
            <a:ext cx="1929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756648" y="2276856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under the honest protocol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589520" y="30175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07808" y="3145536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50.4× more errors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699248" y="387705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honest evaluation, same model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461772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461772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the model changed. Only the way it was measured.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BREAKDOWN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collapse lands on the two families that mean an attacker got in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" y="1371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by attack family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772400" y="1463040"/>
            <a:ext cx="3840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25400">
            <a:solidFill>
              <a:srgbClr val="D03B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28432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 — remote-to-local intrusion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28432" y="192938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0.915</a:t>
            </a:r>
            <a:pPr indent="0" marL="0">
              <a:buNone/>
            </a:pPr>
            <a:r>
              <a:rPr lang="en-US" sz="1600" dirty="0">
                <a:solidFill>
                  <a:srgbClr val="7B8794"/>
                </a:solidFill>
              </a:rPr>
              <a:t>   →   </a:t>
            </a:r>
            <a:pPr indent="0" marL="0">
              <a:buNone/>
            </a:pPr>
            <a:r>
              <a:rPr lang="en-US" sz="32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28432" y="25786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2,754 of these in the test set. The model finds 106.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3493008"/>
            <a:ext cx="38404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25400">
            <a:solidFill>
              <a:srgbClr val="D03B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28432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— privilege escalation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28432" y="395935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B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0.780</a:t>
            </a:r>
            <a:pPr indent="0" marL="0">
              <a:buNone/>
            </a:pPr>
            <a:r>
              <a:rPr lang="en-US" sz="1600" dirty="0">
                <a:solidFill>
                  <a:srgbClr val="7B8794"/>
                </a:solidFill>
              </a:rPr>
              <a:t>   →   </a:t>
            </a:r>
            <a:pPr indent="0" marL="0">
              <a:buNone/>
            </a:pPr>
            <a:r>
              <a:rPr lang="en-US" sz="32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028432" y="460857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in the test set. The model finds one.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the test set is not the training distribution — by design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" y="137160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173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90688" y="1545336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882128" y="227685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R2L in test than in training (0.79% → 12.2%)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0" y="30175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90688" y="3145536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21.5×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882128" y="387705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U2R in test than in training (0.04% → 0.89%)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461772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46177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the two files forces the priors to match — and deletes the whole problem.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CONSEQUENCE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missed attack is not a mislabelled row. It is an intrusion that raises no alarm at all.</a:t>
            </a:r>
            <a:endParaRPr lang="en-US" sz="2700" dirty="0"/>
          </a:p>
        </p:txBody>
      </p:sp>
      <p:pic>
        <p:nvPicPr>
          <p:cNvPr id="4" name="Image 0" descr="/home/claude/mlbubble/reports/figures/fig4_novel_vs_s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5728"/>
            <a:ext cx="6903720" cy="2724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2395728"/>
            <a:ext cx="3840480" cy="1481328"/>
          </a:xfrm>
          <a:prstGeom prst="roundRect">
            <a:avLst>
              <a:gd name="adj" fmla="val 6173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73568" y="2505456"/>
            <a:ext cx="34381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42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76.7%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 types never seen in training are silently cleared as “normal”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7772400" y="4041648"/>
            <a:ext cx="3840480" cy="1481328"/>
          </a:xfrm>
          <a:prstGeom prst="roundRect">
            <a:avLst>
              <a:gd name="adj" fmla="val 6173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3568" y="4151376"/>
            <a:ext cx="34381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18.6%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unseen attacks are assigned the correct attack family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66928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reports 99.5% accuracy is, against a genuinely new attack, close to useless — and it says nothing to warn you.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models, identical splits — the protocol dominates the model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960120"/>
                <a:gridCol w="914400"/>
                <a:gridCol w="868680"/>
                <a:gridCol w="914400"/>
                <a:gridCol w="960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(honest)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(in-dist.)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46B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majority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371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589520" y="1755648"/>
            <a:ext cx="310896" cy="310896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10144" y="1737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beats the model.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10144" y="20025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model scores 0.84–0.94 in-distribution and 0.46–0.55 under shift. The gap between columns (~0.40) dwarfs the gap between best and worst model (~0.09).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89520" y="3172968"/>
            <a:ext cx="310896" cy="310896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10144" y="3154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does not help.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10144" y="341985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simplest models — a small MLP and plain logistic regression — generalise best. XGBoost has the highest CV score and a worse test score than logistic regression.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89520" y="4590288"/>
            <a:ext cx="310896" cy="310896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89520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10144" y="4572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makes it worse.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10144" y="483717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class_weight='balanced_subsample' cut macro-F1 from 0.494 to 0.468 and R2L recall from 0.048 to 0.005. Reweighting cannot invent information about absent attack types.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zero-day: delete an attack family, then test on it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" y="137160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3766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on the held-out family. Each bar pair is a model retrained from scratch.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run this as well?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175564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test-set result confounds two things: novelty and the prior shift. This isolates novelty.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family: delete every one of its rows from training, refit from scratch, then measure detection on it.
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detection falls 0.749 → 0.369 purely from removing Probe. The novelty effect is real and not an artefact of the priors.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4315968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90688" y="4443984"/>
            <a:ext cx="3803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0.369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882128" y="51755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detection when Probe is unseen (0.749 when seen)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give the detector a way to say “I don't recognise this”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softmax over five known classes cannot express “none of these”. Forced to choose, it picks the class with the largest prior mass — Normal. The failure is structural, not a tuning problem.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52774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76272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422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A — Supervised + abstention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2615184"/>
            <a:ext cx="46922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over the 5 known families.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argmax is Normal but confidence &lt; τ, do not clear the flow — emit SUSPICIOUS_UNCLASSIFIED and route to an analyst.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7308" y="1993392"/>
            <a:ext cx="527746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1628" y="2176272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1628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1980" y="2194560"/>
            <a:ext cx="422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B — Unsupervised novelty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39916" y="2615184"/>
            <a:ext cx="46922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fitted on the 67,343 NORMAL training flows only.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sees a single attack during training, so it cannot be biased toward the 22 known attack types.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931920"/>
            <a:ext cx="11057839" cy="786384"/>
          </a:xfrm>
          <a:prstGeom prst="roundRect">
            <a:avLst>
              <a:gd name="adj" fmla="val 930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233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  =  A says attack   OR   A abstains   OR   B says outlier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4334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∈  { NORMAL ,  ATTACK:family ,  SUSPICIOUS_UNCLASSIFIED }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92624"/>
          <a:ext cx="11057839" cy="914400"/>
        </p:xfrm>
        <a:graphic>
          <a:graphicData uri="http://schemas.openxmlformats.org/drawingml/2006/table">
            <a:tbl>
              <a:tblPr/>
              <a:tblGrid>
                <a:gridCol w="5022799"/>
                <a:gridCol w="2103120"/>
                <a:gridCol w="2011680"/>
                <a:gridCol w="1920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Unseen-attack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Seen-attack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False-alarm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 alone (plain 5-class classifier)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B alone (trained on zero attacks)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 B, no abstention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abstention (τ=0.95) OR B  — 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46B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25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6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Unseen-attack coverage rises 24 points for 2 points of false alarms</a:t>
            </a:r>
            <a:endParaRPr lang="en-US" sz="2700" dirty="0"/>
          </a:p>
        </p:txBody>
      </p:sp>
      <p:pic>
        <p:nvPicPr>
          <p:cNvPr id="4" name="Image 0" descr="/home/claude/mlbubble/reports/figures/fig8_hybrid_operat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69494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4173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99248" y="1545336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B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41.5%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790688" y="2276856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attacks caught — plain classifier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738360" y="14173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756648" y="1545336"/>
            <a:ext cx="1837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46B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65.9%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848088" y="2276856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attacks caught — SENTINEL hybrid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80960" y="30175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99248" y="3145536"/>
            <a:ext cx="3895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46B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+24.4 pp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790688" y="3877056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gained, for only +2.23 pp of false alarms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46177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82128" y="4617720"/>
            <a:ext cx="3529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unsupervised model that never saw a single attack detects unseen attacks better than the supervised one — 0.566 vs 0.415.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R2L and U2R fail — a mechanistic answer, not a shrug</a:t>
            </a:r>
            <a:endParaRPr lang="en-US" sz="2700" dirty="0"/>
          </a:p>
        </p:txBody>
      </p:sp>
      <p:pic>
        <p:nvPicPr>
          <p:cNvPr id="4" name="Image 0" descr="/home/claude/mlbubble/reports/figures/fig12_shap_r2l_u2r_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11057839" cy="3438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029200"/>
            <a:ext cx="3228746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5120640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3000" b="1" dirty="0">
                <a:solidFill>
                  <a:srgbClr val="D0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1.23%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model importance sits in CONTENT features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052621" y="5029200"/>
            <a:ext cx="3228746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35501" y="5120640"/>
            <a:ext cx="28803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3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51.72%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basic header / byte-count features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538314" y="5029200"/>
            <a:ext cx="4086454" cy="1243584"/>
          </a:xfrm>
          <a:prstGeom prst="roundRect">
            <a:avLst>
              <a:gd name="adj" fmla="val 588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39482" y="5029200"/>
            <a:ext cx="368411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became a traffic-pattern detector, because that is 99% of its training signal. A successful password guess just looks like one ordinary login.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CONSIDERATIONS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the best model is also the cheapest to run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" y="137160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376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inference latency per flow (ms). Random forest is off-scale at 65.206 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89520" y="14173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07808" y="1545336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6B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0.0129 ms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99248" y="227685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flow, ONNX Runtime single-threaded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692640" y="14173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710928" y="1545336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6B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 KB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802368" y="227685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size on disk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30175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1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07808" y="3145536"/>
            <a:ext cx="3986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810k flows/s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699248" y="3877056"/>
            <a:ext cx="3803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2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throughput — about 8× a saturated 1 Gbps link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89520" y="461772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4617720"/>
            <a:ext cx="362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the reflexive choice — is 5,055× slower and 8,027× larger, for 0.05 LOWER macro-F1.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 NOT CLAIM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here rather than buried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47088"/>
            <a:ext cx="53949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47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is 1999-era simulated traffic. The methodological finding transfers to any dataset with a designed shift; the absolute numbers do not describe a 2026 network.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6208" y="1847088"/>
            <a:ext cx="53949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947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2212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remaining criticism. Cross-dataset validation was planned; UNSW-NB15 and CIC-IDS2017 hosts are unreachable from the build environment.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218688"/>
            <a:ext cx="53949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319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partial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5844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the recommended operating point, 34% of unseen attacks are still missed. That is a real gap, not a rounding error.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6208" y="3218688"/>
            <a:ext cx="53949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33192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R2L and U2R remain unsolved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5844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recall 0.106 and 0.105 across all eight models. We explain the cause mechanically; we do not fix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590288"/>
            <a:ext cx="53949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6908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adversarial robustness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 against a fixed dataset, not an adaptive adversary. A linear model is easy to evade with white-box knowledge.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4590288"/>
            <a:ext cx="5394960" cy="1060704"/>
          </a:xfrm>
          <a:prstGeom prst="roundRect">
            <a:avLst>
              <a:gd name="adj" fmla="val 6897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46908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out of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figures measure inference on pre-computed flow aggregates. Computing them from live packets is the harder engineering problem.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defence evaluator, a system whose limits are known is worth more than one whose headline number cannot be trusted.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reproducible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627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every slide is read from a JSON file in reports/metrics/. None was typed by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212848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377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whole project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sentinel-nids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run_all.py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56248" y="2212848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6293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2377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just the headline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30568" y="26974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run_all.py --only leakage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35 seconds. Prints both protocols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the gap between them.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4041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artefacts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4343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(9 modules, all idempotent and checkpointed)  ·  dataset provenance + SHA-256 manifest  ·  6 metrics JSON files  ·  12 figures  ·  README, methodology, model card, deployment notes  ·  FastAPI inference service  ·  4.9 KB ONNX model  ·  this deck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53035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detector that reports 99.5% accuracy silently clears 77% of never-before-seen attacks. Measuring it honestly is the whole job.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SENTINEL-NIDS  ·  ML Bubble 2026  ·  TE-BE Advanced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73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SENTINEL-NIDS — ML Bubble 2026</dc:title>
  <dc:subject>PptxGenJS Presentation</dc:subject>
  <dc:creator>Manoj Kharkar</dc:creator>
  <cp:lastModifiedBy>Manoj Kharkar</cp:lastModifiedBy>
  <cp:revision>1</cp:revision>
  <dcterms:created xsi:type="dcterms:W3CDTF">2026-08-08T09:45:38Z</dcterms:created>
  <dcterms:modified xsi:type="dcterms:W3CDTF">2026-08-08T09:45:38Z</dcterms:modified>
</cp:coreProperties>
</file>